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1100" b="1" i="0">
                <a:solidFill>
                  <a:srgbClr val="5A6680"/>
                </a:solidFill>
                <a:latin typeface="Calibri"/>
              </a:rPr>
              <a:t>BEX5413 · PROTOTYPE PRESENTATION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058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5400" b="1" i="0">
                <a:solidFill>
                  <a:srgbClr val="14213D"/>
                </a:solidFill>
                <a:latin typeface="Calibri"/>
              </a:rPr>
              <a:t>Smart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2000" b="0" i="0">
                <a:solidFill>
                  <a:srgbClr val="14213D"/>
                </a:solidFill>
                <a:latin typeface="Calibri"/>
              </a:rPr>
              <a:t>From bookkeeping to togetherness — bill splitting, reframed.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A market-first, meaning-aware walkthrough. We answer four questions: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Who is hurting?</a:t>
            </a:r>
            <a:r>
              <a:rPr sz="1100" b="0">
                <a:solidFill>
                  <a:srgbClr val="1C2230"/>
                </a:solidFill>
                <a:latin typeface="Calibri"/>
              </a:rPr>
              <a:t>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What did we build and why?</a:t>
            </a:r>
            <a:r>
              <a:rPr sz="1100" b="0">
                <a:solidFill>
                  <a:srgbClr val="1C2230"/>
                </a:solidFill>
                <a:latin typeface="Calibri"/>
              </a:rPr>
              <a:t>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What did customers actually do?</a:t>
            </a:r>
            <a:r>
              <a:rPr sz="1100" b="0">
                <a:solidFill>
                  <a:srgbClr val="1C2230"/>
                </a:solidFill>
                <a:latin typeface="Calibri"/>
              </a:rPr>
              <a:t>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What should we test next?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2682163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900" b="1" i="0">
                <a:solidFill>
                  <a:srgbClr val="5A6680"/>
                </a:solidFill>
                <a:latin typeface="Calibri"/>
              </a:rPr>
              <a:t>TEAM / VENTURE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268216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Smart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5395" y="4389120"/>
            <a:ext cx="2682163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900" b="1" i="0">
                <a:solidFill>
                  <a:srgbClr val="5A6680"/>
                </a:solidFill>
                <a:latin typeface="Calibri"/>
              </a:rPr>
              <a:t>PROTOTYPE TESTED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5395" y="4754880"/>
            <a:ext cx="268216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Concierge MVP v0.3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999" y="4389120"/>
            <a:ext cx="2682163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900" b="1" i="0">
                <a:solidFill>
                  <a:srgbClr val="5A6680"/>
                </a:solidFill>
                <a:latin typeface="Calibri"/>
              </a:rPr>
              <a:t>TARGET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8999" y="4754880"/>
            <a:ext cx="268216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Trip groups, 22–32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42603" y="4389120"/>
            <a:ext cx="2682163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900" b="1" i="0">
                <a:solidFill>
                  <a:srgbClr val="5A6680"/>
                </a:solidFill>
                <a:latin typeface="Calibri"/>
              </a:rPr>
              <a:t>FEEDBACK REQUESTED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603" y="4754880"/>
            <a:ext cx="268216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Payment-trust + meaning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BEX5413 · Prototype Presentation Canvas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Prototype Presentation Canvas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773603" cy="21945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1. Market &amp; problem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2 min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Category, who, urgent problem, motivations, current alternatives.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2243" y="1005840"/>
            <a:ext cx="2773603" cy="219456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2. Prototype &amp; value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3 min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Core value proposition, hook, time to value, stickiness.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005840"/>
            <a:ext cx="2773603" cy="2194560"/>
          </a:xfrm>
          <a:prstGeom prst="roundRect">
            <a:avLst>
              <a:gd name="adj" fmla="val 5000"/>
            </a:avLst>
          </a:prstGeom>
          <a:solidFill>
            <a:srgbClr val="FBD9B4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3. Customer evidence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3 min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Who engaged, what they did, what surprised us, what 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331" y="1005840"/>
            <a:ext cx="2773603" cy="219456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4. Feedback ask &amp; next test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2 min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Riskiest assumption, what feedback we need, one-week commitment.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5592927" cy="274320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Presenter principle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Show the learning trail: </a:t>
            </a:r>
            <a:r>
              <a:rPr sz="1100" b="1">
                <a:solidFill>
                  <a:srgbClr val="14213D"/>
                </a:solidFill>
                <a:latin typeface="Calibri"/>
              </a:rPr>
              <a:t>market insight → product hypothesis → prototype → customer reaction → next experiment.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We do not defend the solution; we name which assumption is still uncertain and why it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567" y="3383280"/>
            <a:ext cx="5592927" cy="274320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Theory frame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Verganti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meaning-driven innovation: we compete on what splitting </a:t>
            </a:r>
            <a:r>
              <a:rPr sz="1100" b="1">
                <a:solidFill>
                  <a:srgbClr val="14213D"/>
                </a:solidFill>
                <a:latin typeface="Calibri"/>
              </a:rPr>
              <a:t>feels like</a:t>
            </a:r>
            <a:r>
              <a:rPr sz="1100" b="0">
                <a:solidFill>
                  <a:srgbClr val="1C2230"/>
                </a:solidFill>
                <a:latin typeface="Calibri"/>
              </a:rPr>
              <a:t>, not what features it has.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Balfour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Four Fits: </a:t>
            </a:r>
            <a:r>
              <a:rPr sz="1100" b="1">
                <a:solidFill>
                  <a:srgbClr val="14213D"/>
                </a:solidFill>
                <a:latin typeface="Calibri"/>
              </a:rPr>
              <a:t>market ↔ product ↔ channel ↔ model</a:t>
            </a:r>
            <a:r>
              <a:rPr sz="1100" b="0">
                <a:solidFill>
                  <a:srgbClr val="1C2230"/>
                </a:solidFill>
                <a:latin typeface="Calibri"/>
              </a:rPr>
              <a:t> must all align, or growth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Canvas A · Start with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1 / 2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Category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Group payments &amp; shared-money infrastructure.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Adjacent — but not — Splitwise (tracking), Venmo (P2P), QuickBooks (accounting). Smart Split is </a:t>
            </a:r>
            <a:r>
              <a:rPr sz="950" i="1">
                <a:solidFill>
                  <a:srgbClr val="5A6680"/>
                </a:solidFill>
                <a:latin typeface="Calibri"/>
              </a:rPr>
              <a:t>togetherness infrastructure for shared money</a:t>
            </a:r>
            <a:r>
              <a:rPr sz="950" i="1">
                <a:solidFill>
                  <a:srgbClr val="5A66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Who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Urban Gen-Z &amp; younger millennials, 22–32</a:t>
            </a:r>
            <a:r>
              <a:rPr sz="1100" b="0">
                <a:solidFill>
                  <a:srgbClr val="1C2230"/>
                </a:solidFill>
                <a:latin typeface="Calibri"/>
              </a:rPr>
              <a:t>, in groups of 3–8 who eat out, travel, or share housing.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Sub-segment first: </a:t>
            </a:r>
            <a:r>
              <a:rPr sz="950" i="1">
                <a:solidFill>
                  <a:srgbClr val="5A6680"/>
                </a:solidFill>
                <a:latin typeface="Calibri"/>
              </a:rPr>
              <a:t>trip groups of 4–8</a:t>
            </a:r>
            <a:r>
              <a:rPr sz="950" i="1">
                <a:solidFill>
                  <a:srgbClr val="5A6680"/>
                </a:solidFill>
                <a:latin typeface="Calibri"/>
              </a:rPr>
              <a:t> — peak pain density, peak repeat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6836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Urgent problem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Shared spend creates social friction. Existing tools track (Splitwise) </a:t>
            </a:r>
            <a:r>
              <a:rPr sz="1100" b="1">
                <a:solidFill>
                  <a:srgbClr val="14213D"/>
                </a:solidFill>
                <a:latin typeface="Calibri"/>
              </a:rPr>
              <a:t>or</a:t>
            </a:r>
            <a:r>
              <a:rPr sz="1100" b="0">
                <a:solidFill>
                  <a:srgbClr val="1C2230"/>
                </a:solidFill>
                <a:latin typeface="Calibri"/>
              </a:rPr>
              <a:t> pay (Venmo) — never both with fairness intelligence.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Painful </a:t>
            </a:r>
            <a:r>
              <a:rPr sz="950" i="1">
                <a:solidFill>
                  <a:srgbClr val="5A6680"/>
                </a:solidFill>
                <a:latin typeface="Calibri"/>
              </a:rPr>
              <a:t>now</a:t>
            </a:r>
            <a:r>
              <a:rPr sz="950" i="1">
                <a:solidFill>
                  <a:srgbClr val="5A6680"/>
                </a:solidFill>
                <a:latin typeface="Calibri"/>
              </a:rPr>
              <a:t>: post-pandemic social re-emergence + inflation = more shared spend, less tolerance for friction.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Canvas A · Why it matters &amp; what they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1 / cont.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Motivations (JTBD)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Emotional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end the night without owing anyone.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Social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protect group harmony.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Operational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drop the mental ledger.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Economic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stop quietly losing money in forgotten reimbursements.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Job: "Help me close the tab on this group, so we can keep being friends."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Current alternatives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Splitwise — tracks; never settles.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Venmo / WeChat Pay — settles; never computes fairly.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Spreadsheets &amp; mental math — most common, lowest fidelity.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"One person eats it" — silent tax on the most generous friend.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Workaround proves problem: </a:t>
            </a:r>
            <a:r>
              <a:rPr sz="950" i="1">
                <a:solidFill>
                  <a:srgbClr val="5A6680"/>
                </a:solidFill>
                <a:latin typeface="Calibri"/>
              </a:rPr>
              <a:t>71% of our 28 interviewees use ≥2 tools per trip.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6836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Switching forces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Pushing them away from the old way:</a:t>
            </a:r>
            <a:r>
              <a:rPr sz="1100" b="0">
                <a:solidFill>
                  <a:srgbClr val="1C2230"/>
                </a:solidFill>
                <a:latin typeface="Calibri"/>
              </a:rPr>
              <a:t> cognitive load, embarrassment, lost money, broken evenings.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Trust to connect a wallet.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"Is the split actually fair?"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Group adoption — no value if only one uses it.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Anxiety / friction that could stop adoption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Canvas A · Success, meaning,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1 / land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Success trigger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What we will see when value lands: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"I forgot we even split it." (qualitative)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≥2 repeats within 7 days (behavioural)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≥2 group members invited per active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New meaning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Splitting is no longer accounting between friends.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It is a quiet act of care that makes the money disappear so the relationship can stay.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Not just</a:t>
            </a:r>
            <a:r>
              <a:rPr sz="950" i="1">
                <a:solidFill>
                  <a:srgbClr val="5A6680"/>
                </a:solidFill>
                <a:latin typeface="Calibri"/>
              </a:rPr>
              <a:t>: "AI for receipts." The feature is the enabler of a meaning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6836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Innovation position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Meaning-driven</a:t>
            </a:r>
            <a:r>
              <a:rPr sz="1100" b="0">
                <a:solidFill>
                  <a:srgbClr val="1C2230"/>
                </a:solidFill>
                <a:latin typeface="Calibri"/>
              </a:rPr>
              <a:t> (Verganti) with AI as enabler.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We are not racing Splitwise on features. We are reframing what splitting </a:t>
            </a:r>
            <a:r>
              <a:rPr sz="950" i="1">
                <a:solidFill>
                  <a:srgbClr val="5A6680"/>
                </a:solidFill>
                <a:latin typeface="Calibri"/>
              </a:rPr>
              <a:t>means</a:t>
            </a:r>
            <a:r>
              <a:rPr sz="950" i="1">
                <a:solidFill>
                  <a:srgbClr val="5A6680"/>
                </a:solidFill>
                <a:latin typeface="Calibri"/>
              </a:rPr>
              <a:t> — from ledger to togetherness — and using AI to make the new meaning frictionless. → Design-driven · radical meaning, incremental tech.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Verganti · Where Smart Split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Theory frame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017520"/>
            <a:ext cx="3657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900" b="1" i="0">
                <a:solidFill>
                  <a:srgbClr val="5A6680"/>
                </a:solidFill>
                <a:latin typeface="Calibri"/>
              </a:rPr>
              <a:t>MEANING ↑
radical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6583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900" b="1" i="0">
                <a:solidFill>
                  <a:srgbClr val="5A6680"/>
                </a:solidFill>
                <a:latin typeface="Calibri"/>
              </a:rPr>
              <a:t>TECHNOLOGY →  radical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6EE"/>
          </a:solidFill>
          <a:ln w="31750">
            <a:solidFill>
              <a:srgbClr val="2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Design-driven / Meaning-driven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230"/>
                </a:solidFill>
                <a:latin typeface="Calibri"/>
              </a:rPr>
              <a:t>Radical meaning · incremental tech.
Reframes the experience.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2F6F4E"/>
                </a:solidFill>
                <a:latin typeface="Calibri"/>
              </a:rPr>
              <a:t>★ Smart Split is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40" y="118872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Technology epiphany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230"/>
                </a:solidFill>
                <a:latin typeface="Calibri"/>
              </a:rPr>
              <a:t>Radical meaning AND radical tech.
Apple-grade leaps.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Market-pull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230"/>
                </a:solidFill>
                <a:latin typeface="Calibri"/>
              </a:rPr>
              <a:t>Incremental meaning &amp; tech.
Splitwise updates live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40" y="36118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Technology-push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230"/>
                </a:solidFill>
                <a:latin typeface="Calibri"/>
              </a:rPr>
              <a:t>Radical tech, same meaning.
"AI for receipts"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188720"/>
            <a:ext cx="4419295" cy="237744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Why this quadrant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The math of splitting has been solved for a decade — Splitwise nailed it. What has </a:t>
            </a:r>
            <a:r>
              <a:rPr sz="1100" b="1">
                <a:solidFill>
                  <a:srgbClr val="14213D"/>
                </a:solidFill>
                <a:latin typeface="Calibri"/>
              </a:rPr>
              <a:t>not</a:t>
            </a:r>
            <a:r>
              <a:rPr sz="1100" b="0">
                <a:solidFill>
                  <a:srgbClr val="1C2230"/>
                </a:solidFill>
                <a:latin typeface="Calibri"/>
              </a:rPr>
              <a:t> been solved is the social meaning </a:t>
            </a:r>
            <a:r>
              <a:rPr sz="1100" b="1">
                <a:solidFill>
                  <a:srgbClr val="14213D"/>
                </a:solidFill>
                <a:latin typeface="Calibri"/>
              </a:rPr>
              <a:t>around</a:t>
            </a:r>
            <a:r>
              <a:rPr sz="1100" b="0">
                <a:solidFill>
                  <a:srgbClr val="1C2230"/>
                </a:solidFill>
                <a:latin typeface="Calibri"/>
              </a:rPr>
              <a:t> the math.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Smart Split changes </a:t>
            </a:r>
            <a:r>
              <a:rPr sz="1100" b="1">
                <a:solidFill>
                  <a:srgbClr val="14213D"/>
                </a:solidFill>
                <a:latin typeface="Calibri"/>
              </a:rPr>
              <a:t>meaning first</a:t>
            </a:r>
            <a:r>
              <a:rPr sz="1100" b="0">
                <a:solidFill>
                  <a:srgbClr val="1C2230"/>
                </a:solidFill>
                <a:latin typeface="Calibri"/>
              </a:rPr>
              <a:t>, then uses AI (OCR + group context) to make the new meaning frictionless.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4419295" cy="2286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Risk this frame surfaces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If users only hear "AI receipt scanner," we have collapsed into the </a:t>
            </a:r>
            <a:r>
              <a:rPr sz="1100" b="1">
                <a:solidFill>
                  <a:srgbClr val="14213D"/>
                </a:solidFill>
                <a:latin typeface="Calibri"/>
              </a:rPr>
              <a:t>tech-push</a:t>
            </a:r>
            <a:r>
              <a:rPr sz="1100" b="0">
                <a:solidFill>
                  <a:srgbClr val="1C2230"/>
                </a:solidFill>
                <a:latin typeface="Calibri"/>
              </a:rPr>
              <a:t> quadrant.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Our pitch, onboarding, and metrics must protect the meaning 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meaning shift, in one breath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Verganti · old → new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4846320" cy="3657600"/>
          </a:xfrm>
          <a:prstGeom prst="roundRect">
            <a:avLst>
              <a:gd name="adj" fmla="val 5000"/>
            </a:avLst>
          </a:prstGeom>
          <a:solidFill>
            <a:srgbClr val="F2E9E4"/>
          </a:solidFill>
          <a:ln w="9525">
            <a:solidFill>
              <a:srgbClr val="D8C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Old meaning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Splitting bills = bookkeeping between friends.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Ledger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Debt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Fairness as math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Awkwardness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532120" y="2651760"/>
            <a:ext cx="914400" cy="914400"/>
          </a:xfrm>
          <a:prstGeom prst="rightArrow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846320" cy="365760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B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New meaning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Splitting bills = a quiet act of care.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Trust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Lightness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Fairness as feeling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Togetherness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Why this matters (Verganti)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In mature categories, feature parity is </a:t>
            </a:r>
            <a:r>
              <a:rPr sz="1100" b="1">
                <a:solidFill>
                  <a:srgbClr val="14213D"/>
                </a:solidFill>
                <a:latin typeface="Calibri"/>
              </a:rPr>
              <a:t>cheap and copyable</a:t>
            </a:r>
            <a:r>
              <a:rPr sz="1100" b="0">
                <a:solidFill>
                  <a:srgbClr val="1C2230"/>
                </a:solidFill>
                <a:latin typeface="Calibri"/>
              </a:rPr>
              <a:t>; meaning shifts are </a:t>
            </a:r>
            <a:r>
              <a:rPr sz="1100" b="1">
                <a:solidFill>
                  <a:srgbClr val="14213D"/>
                </a:solidFill>
                <a:latin typeface="Calibri"/>
              </a:rPr>
              <a:t>slow to build and hard to copy</a:t>
            </a:r>
            <a:r>
              <a:rPr sz="1100" b="0">
                <a:solidFill>
                  <a:srgbClr val="1C2230"/>
                </a:solidFill>
                <a:latin typeface="Calibri"/>
              </a:rPr>
              <a:t>. Our moat is the meaning frame, defended by AI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Prototype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2 / 3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92927" cy="237744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Core value proposition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"Snap, split, settled — in under 30 seconds, without a single 'how much do I owe you?'"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Hook:</a:t>
            </a:r>
            <a:r>
              <a:rPr sz="1100" b="0">
                <a:solidFill>
                  <a:srgbClr val="1C2230"/>
                </a:solidFill>
                <a:latin typeface="Calibri"/>
              </a:rPr>
              <a:t> one photo of the receipt; the group is settled before dessert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1567" y="1051560"/>
            <a:ext cx="5592927" cy="237744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What's in the prototype (v0.3)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AI receipt OCR + line-item assignment.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Group-context model: "dinner crew" vs "trip crew."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One-tap settlement via wallet integration (concierge for v0.3).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Soft-closing nudge: "Everyone's even — close the trip?"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69813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F6F4E"/>
                </a:solidFill>
                <a:latin typeface="Calibri"/>
              </a:rPr>
              <a:t>&lt; 30 s</a:t>
            </a:r>
          </a:p>
          <a:p>
            <a:pPr algn="ctr"/>
            <a:r>
              <a:rPr sz="1000">
                <a:solidFill>
                  <a:srgbClr val="5A6680"/>
                </a:solidFill>
                <a:latin typeface="Calibri"/>
              </a:rPr>
              <a:t>Time to value (open → settled)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6778" y="3657600"/>
            <a:ext cx="369813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F6F4E"/>
                </a:solidFill>
                <a:latin typeface="Calibri"/>
              </a:rPr>
              <a:t>1 tap</a:t>
            </a:r>
          </a:p>
          <a:p>
            <a:pPr algn="ctr"/>
            <a:r>
              <a:rPr sz="1000">
                <a:solidFill>
                  <a:srgbClr val="5A6680"/>
                </a:solidFill>
                <a:latin typeface="Calibri"/>
              </a:rPr>
              <a:t>Settlement, not 4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657600"/>
            <a:ext cx="369813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F6F4E"/>
                </a:solidFill>
                <a:latin typeface="Calibri"/>
              </a:rPr>
              <a:t>N + 2</a:t>
            </a:r>
          </a:p>
          <a:p>
            <a:pPr algn="ctr"/>
            <a:r>
              <a:rPr sz="1000">
                <a:solidFill>
                  <a:srgbClr val="5A6680"/>
                </a:solidFill>
                <a:latin typeface="Calibri"/>
              </a:rPr>
              <a:t>Avg invites per user (target)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Stickiness model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Group memory</a:t>
            </a:r>
            <a:r>
              <a:rPr sz="1100" b="0">
                <a:solidFill>
                  <a:srgbClr val="1C2230"/>
                </a:solidFill>
                <a:latin typeface="Calibri"/>
              </a:rPr>
              <a:t> (the crew remembers you)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Settlement record</a:t>
            </a:r>
            <a:r>
              <a:rPr sz="1100" b="0">
                <a:solidFill>
                  <a:srgbClr val="1C2230"/>
                </a:solidFill>
                <a:latin typeface="Calibri"/>
              </a:rPr>
              <a:t> (frictionless trust)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Soft reputation</a:t>
            </a:r>
            <a:r>
              <a:rPr sz="1100" b="0">
                <a:solidFill>
                  <a:srgbClr val="1C2230"/>
                </a:solidFill>
                <a:latin typeface="Calibri"/>
              </a:rPr>
              <a:t> (subtle karma score)   ·   </a:t>
            </a:r>
            <a:r>
              <a:rPr sz="1100" b="1">
                <a:solidFill>
                  <a:srgbClr val="14213D"/>
                </a:solidFill>
                <a:latin typeface="Calibri"/>
              </a:rPr>
              <a:t>Trip mode</a:t>
            </a:r>
            <a:r>
              <a:rPr sz="1100" b="0">
                <a:solidFill>
                  <a:srgbClr val="1C2230"/>
                </a:solidFill>
                <a:latin typeface="Calibri"/>
              </a:rPr>
              <a:t> (high-frequency repeat surface).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Balfour · The Four Fits,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Theory frame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773603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92608" bIns="128016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Market ↔ Product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4213D"/>
                </a:solidFill>
                <a:latin typeface="Calibri"/>
              </a:rPr>
              <a:t>Trip groups, 22–32.</a:t>
            </a:r>
            <a:r>
              <a:rPr sz="1050" b="0">
                <a:solidFill>
                  <a:srgbClr val="1C2230"/>
                </a:solidFill>
                <a:latin typeface="Calibri"/>
              </a:rPr>
              <a:t> High frequency, high social stakes. Product solves the emotional + operational problem — not just the math.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03327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243" y="1143000"/>
            <a:ext cx="2773603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92608" bIns="128016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Product ↔ Channel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C2230"/>
                </a:solidFill>
                <a:latin typeface="Calibri"/>
              </a:rPr>
              <a:t>Product </a:t>
            </a:r>
            <a:r>
              <a:rPr sz="1050" b="1">
                <a:solidFill>
                  <a:srgbClr val="14213D"/>
                </a:solidFill>
                <a:latin typeface="Calibri"/>
              </a:rPr>
              <a:t>is</a:t>
            </a:r>
            <a:r>
              <a:rPr sz="1050" b="0">
                <a:solidFill>
                  <a:srgbClr val="1C2230"/>
                </a:solidFill>
                <a:latin typeface="Calibri"/>
              </a:rPr>
              <a:t> the channel. Every split is a group invite. Viral coefficient built into the JTBD; zero paid acquisition at seed.</a:t>
            </a:r>
          </a:p>
        </p:txBody>
      </p:sp>
      <p:sp>
        <p:nvSpPr>
          <p:cNvPr id="7" name="Oval 6"/>
          <p:cNvSpPr/>
          <p:nvPr/>
        </p:nvSpPr>
        <p:spPr>
          <a:xfrm>
            <a:off x="3431971" y="103327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143000"/>
            <a:ext cx="2773603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92608" bIns="128016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Channel ↔ Model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C2230"/>
                </a:solidFill>
                <a:latin typeface="Calibri"/>
              </a:rPr>
              <a:t>Viral channels demand zero-friction monetisation → freemium. Free for casual groups; premium for multi-currency, AI auto-categorise, trip mode.</a:t>
            </a:r>
          </a:p>
        </p:txBody>
      </p:sp>
      <p:sp>
        <p:nvSpPr>
          <p:cNvPr id="9" name="Oval 8"/>
          <p:cNvSpPr/>
          <p:nvPr/>
        </p:nvSpPr>
        <p:spPr>
          <a:xfrm>
            <a:off x="6297015" y="103327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331" y="1143000"/>
            <a:ext cx="2773603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92608" bIns="128016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Model ↔ Market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4213D"/>
                </a:solidFill>
                <a:latin typeface="Calibri"/>
              </a:rPr>
              <a:t>$4–6/mo</a:t>
            </a:r>
            <a:r>
              <a:rPr sz="1050" b="0">
                <a:solidFill>
                  <a:srgbClr val="1C2230"/>
                </a:solidFill>
                <a:latin typeface="Calibri"/>
              </a:rPr>
              <a:t> per power user matches young-pro willingness to pay for social peace. Transaction-fee tier for high-volume travel groups.</a:t>
            </a:r>
          </a:p>
        </p:txBody>
      </p:sp>
      <p:sp>
        <p:nvSpPr>
          <p:cNvPr id="11" name="Oval 10"/>
          <p:cNvSpPr/>
          <p:nvPr/>
        </p:nvSpPr>
        <p:spPr>
          <a:xfrm>
            <a:off x="9162059" y="103327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592927" cy="219456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Tightest fit (today)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Product ↔ Channel.</a:t>
            </a:r>
            <a:r>
              <a:rPr sz="1100" b="0">
                <a:solidFill>
                  <a:srgbClr val="1C2230"/>
                </a:solidFill>
                <a:latin typeface="Calibri"/>
              </a:rPr>
              <a:t> Every successful split creates an invite event. Early evidence supports this (see customer evidence).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1567" y="4114800"/>
            <a:ext cx="5592927" cy="2194560"/>
          </a:xfrm>
          <a:prstGeom prst="roundRect">
            <a:avLst>
              <a:gd name="adj" fmla="val 5000"/>
            </a:avLst>
          </a:prstGeom>
          <a:solidFill>
            <a:srgbClr val="FBD9B4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Loosest fit (today)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Channel ↔ Model.</a:t>
            </a:r>
            <a:r>
              <a:rPr sz="1100" b="0">
                <a:solidFill>
                  <a:srgbClr val="1C2230"/>
                </a:solidFill>
                <a:latin typeface="Calibri"/>
              </a:rPr>
              <a:t> We don't yet know if freemium converts at the rate viral channels demand. Biggest open question past prototype.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Customer evidence — what they said &amp;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3 / 3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108960"/>
                <a:gridCol w="2773375"/>
              </a:tblGrid>
              <a:tr h="1005840">
                <a:tc>
                  <a:txBody>
                    <a:bodyPr wrap="square" tIns="54864" bIns="54864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Customer / segment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they said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they did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we learned / changed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1005840"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University roommates · 4 ppl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"After a week I forget who paid for what."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Used a shared Google Sheet that died after day 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Memory decay is the real failure mode → auto-capture is non-negotiable.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Young couple · 2 ppl, cohabiting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"We don't track; it just builds up."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Avoided the conversation; one partner felt quietly resentful.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Even N=2 has the problem. Couples are a valid secondary segment, not a pivot.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1005840"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Trip group · 6 ppl, Bali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"20 minutes of math at the airport. Ugh."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Tested concierge MVP — settled $1,400 in 90 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Trips are the killer onboarding moment. Pivoted hero flow to "Start a trip."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Older user · 45+, professional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"I'd never connect my bank to that."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Walked off at the payment-connect step.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>Confirms primary segment: Gen-Z / younger millennial. Older = much later.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Customer evidence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3 / cont.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Strongest validation signal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8 / 10</a:t>
            </a:r>
            <a:r>
              <a:rPr sz="1100" b="0">
                <a:solidFill>
                  <a:srgbClr val="1C2230"/>
                </a:solidFill>
                <a:latin typeface="Calibri"/>
              </a:rPr>
              <a:t> concierge testers invited a friend </a:t>
            </a:r>
            <a:r>
              <a:rPr sz="1100" b="1">
                <a:solidFill>
                  <a:srgbClr val="14213D"/>
                </a:solidFill>
                <a:latin typeface="Calibri"/>
              </a:rPr>
              <a:t>during</a:t>
            </a:r>
            <a:r>
              <a:rPr sz="1100" b="0">
                <a:solidFill>
                  <a:srgbClr val="1C2230"/>
                </a:solidFill>
                <a:latin typeface="Calibri"/>
              </a:rPr>
              <a:t> the test session — unprompted.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6 / 10</a:t>
            </a:r>
            <a:r>
              <a:rPr sz="1100" b="0">
                <a:solidFill>
                  <a:srgbClr val="1C2230"/>
                </a:solidFill>
                <a:latin typeface="Calibri"/>
              </a:rPr>
              <a:t> settled with real money in v0.3, not just simulated.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FBD9B4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Strongest contradiction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4 / 10</a:t>
            </a:r>
            <a:r>
              <a:rPr sz="1100" b="0">
                <a:solidFill>
                  <a:srgbClr val="1C2230"/>
                </a:solidFill>
                <a:latin typeface="Calibri"/>
              </a:rPr>
              <a:t> first-time testers paused at the payment-connect step. Trust gap is real, not theoretical.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Older sub-segment hard-stopped at the same step — confirms segment focus, but trust UX matters for everyone.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6836" y="1051560"/>
            <a:ext cx="3713378" cy="493776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Behaviour to watch next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Day-7 repeat use rate.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Invites sent per active user (viral coefficient).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Settle-rate</a:t>
            </a:r>
            <a:r>
              <a:rPr sz="1100" b="0">
                <a:solidFill>
                  <a:srgbClr val="1C2230"/>
                </a:solidFill>
                <a:latin typeface="Calibri"/>
              </a:rPr>
              <a:t> — % of splits that complete payment, not just 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Feedback ask · the riskiest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4 / 2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92927" cy="2560320"/>
          </a:xfrm>
          <a:prstGeom prst="roundRect">
            <a:avLst>
              <a:gd name="adj" fmla="val 5000"/>
            </a:avLst>
          </a:prstGeom>
          <a:solidFill>
            <a:srgbClr val="FBD9B4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Riskiest assumption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Users will connect a payment method on first use (trust), AND the meaning shift — care, not accounting — drives adoption over feature comparison.</a:t>
            </a:r>
          </a:p>
          <a:p>
            <a:pPr algn="l">
              <a:spcBef>
                <a:spcPts val="600"/>
              </a:spcBef>
            </a:pPr>
            <a:r>
              <a:rPr sz="950" i="1">
                <a:solidFill>
                  <a:srgbClr val="5A6680"/>
                </a:solidFill>
                <a:latin typeface="Calibri"/>
              </a:rPr>
              <a:t>If either half is wrong, the whole "settle in one tap" promise collapses into a better Splitwise.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1567" y="1051560"/>
            <a:ext cx="5592927" cy="2560320"/>
          </a:xfrm>
          <a:prstGeom prst="roundRect">
            <a:avLst>
              <a:gd name="adj" fmla="val 5000"/>
            </a:avLst>
          </a:prstGeom>
          <a:solidFill>
            <a:srgbClr val="FBD9B4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Where the prototype logic is weak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Trust-on-day-one. Should v1 ship </a:t>
            </a:r>
            <a:r>
              <a:rPr sz="1100" b="1">
                <a:solidFill>
                  <a:srgbClr val="14213D"/>
                </a:solidFill>
                <a:latin typeface="Calibri"/>
              </a:rPr>
              <a:t>without</a:t>
            </a:r>
            <a:r>
              <a:rPr sz="1100" b="0">
                <a:solidFill>
                  <a:srgbClr val="1C2230"/>
                </a:solidFill>
                <a:latin typeface="Calibri"/>
              </a:rPr>
              <a:t> payment connect?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Whether "togetherness" survives translation into a 60-character app-store subtitle.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Whether freemium price is below the threshold of "worth the friction."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11247120" cy="246888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Specifically, we are asking peers for: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What evidence in our deck challenged the </a:t>
            </a:r>
            <a:r>
              <a:rPr sz="1100" b="1">
                <a:solidFill>
                  <a:srgbClr val="14213D"/>
                </a:solidFill>
                <a:latin typeface="Calibri"/>
              </a:rPr>
              <a:t>togetherness &gt; accounting</a:t>
            </a:r>
            <a:r>
              <a:rPr sz="1100" b="0">
                <a:solidFill>
                  <a:srgbClr val="1C2230"/>
                </a:solidFill>
                <a:latin typeface="Calibri"/>
              </a:rPr>
              <a:t> framing?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In the trip-group test — is the </a:t>
            </a:r>
            <a:r>
              <a:rPr sz="1100" b="1">
                <a:solidFill>
                  <a:srgbClr val="14213D"/>
                </a:solidFill>
                <a:latin typeface="Calibri"/>
              </a:rPr>
              <a:t>buyer</a:t>
            </a:r>
            <a:r>
              <a:rPr sz="1100" b="0">
                <a:solidFill>
                  <a:srgbClr val="1C2230"/>
                </a:solidFill>
                <a:latin typeface="Calibri"/>
              </a:rPr>
              <a:t> (trip organiser) the same person as the </a:t>
            </a:r>
            <a:r>
              <a:rPr sz="1100" b="1">
                <a:solidFill>
                  <a:srgbClr val="14213D"/>
                </a:solidFill>
                <a:latin typeface="Calibri"/>
              </a:rPr>
              <a:t>user</a:t>
            </a:r>
            <a:r>
              <a:rPr sz="1100" b="0">
                <a:solidFill>
                  <a:srgbClr val="1C2230"/>
                </a:solidFill>
                <a:latin typeface="Calibri"/>
              </a:rPr>
              <a:t> (group)? If not, what does that change?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Why aren't we charging at the receipt step? Stress-test our pricing intuition.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Decision after feedback &amp; one-week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Section 4 /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92927" cy="521208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Decision rules after feedback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Persevere</a:t>
            </a:r>
            <a:r>
              <a:rPr sz="1100" b="0">
                <a:solidFill>
                  <a:srgbClr val="1C2230"/>
                </a:solidFill>
                <a:latin typeface="Calibri"/>
              </a:rPr>
              <a:t> if ≥40% of new trip-segment users connect a wallet in session 1.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Refine</a:t>
            </a:r>
            <a:r>
              <a:rPr sz="1100" b="0">
                <a:solidFill>
                  <a:srgbClr val="1C2230"/>
                </a:solidFill>
                <a:latin typeface="Calibri"/>
              </a:rPr>
              <a:t> if 20–40% connect AND invite-rate ≥1.5 — decouple trust from value (delay payment connect).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Pivot user</a:t>
            </a:r>
            <a:r>
              <a:rPr sz="1100" b="0">
                <a:solidFill>
                  <a:srgbClr val="1C2230"/>
                </a:solidFill>
                <a:latin typeface="Calibri"/>
              </a:rPr>
              <a:t> if &lt;20% connect — move from "settlement" to "split-intelligence-only" for a more trusting segment.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1">
                <a:solidFill>
                  <a:srgbClr val="14213D"/>
                </a:solidFill>
                <a:latin typeface="Calibri"/>
              </a:rPr>
              <a:t>Pivot meaning</a:t>
            </a:r>
            <a:r>
              <a:rPr sz="1100" b="0">
                <a:solidFill>
                  <a:srgbClr val="1C2230"/>
                </a:solidFill>
                <a:latin typeface="Calibri"/>
              </a:rPr>
              <a:t> if invites &lt;1 per user — togetherness frame isn't landing; rebuild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1567" y="1051560"/>
            <a:ext cx="5592927" cy="5212080"/>
          </a:xfrm>
          <a:prstGeom prst="roundRect">
            <a:avLst>
              <a:gd name="adj" fmla="val 5000"/>
            </a:avLst>
          </a:prstGeom>
          <a:solidFill>
            <a:srgbClr val="E0EBDA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One-week iteration commitment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By next class we will test:</a:t>
            </a:r>
            <a:r>
              <a:rPr sz="1100" b="0">
                <a:solidFill>
                  <a:srgbClr val="1C2230"/>
                </a:solidFill>
                <a:latin typeface="Calibri"/>
              </a:rPr>
              <a:t> payment-connect rate with 10 new trip-segment users on v0.4.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Minimum evidence we will bring back: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Connect rate (target ≥40%).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Settle rate (target ≥60% of connecters).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3+ verbatim quotes on trust hesitation.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One short clip of the most confusing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Over to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92927" cy="237744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Listener principle (from the canvas)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Ask questions that reveal </a:t>
            </a:r>
            <a:r>
              <a:rPr sz="1100" b="1">
                <a:solidFill>
                  <a:srgbClr val="14213D"/>
                </a:solidFill>
                <a:latin typeface="Calibri"/>
              </a:rPr>
              <a:t>thinking, evidence, and customer behaviour.</a:t>
            </a:r>
            <a:r>
              <a:rPr sz="1100" b="0">
                <a:solidFill>
                  <a:srgbClr val="1C2230"/>
                </a:solidFill>
                <a:latin typeface="Calibri"/>
              </a:rPr>
              <a:t> Avoid giving feedback ideas too early.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C2230"/>
                </a:solidFill>
                <a:latin typeface="Calibri"/>
              </a:rPr>
              <a:t>Your job is to help us make the next test sharper.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1567" y="1051560"/>
            <a:ext cx="5592927" cy="237744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Questions we'd love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What evidence in the deck most challenges the meaning shift?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Which of Balfour's four fits looks loosest to you?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• </a:t>
            </a:r>
            <a:r>
              <a:rPr sz="1100" b="0">
                <a:solidFill>
                  <a:srgbClr val="1C2230"/>
                </a:solidFill>
                <a:latin typeface="Calibri"/>
              </a:rPr>
              <a:t>What's a cheaper experiment we could run before building v0.4?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11247120" cy="1188720"/>
          </a:xfrm>
          <a:prstGeom prst="rect">
            <a:avLst/>
          </a:prstGeom>
          <a:solidFill>
            <a:srgbClr val="FFF2CC"/>
          </a:solidFill>
          <a:ln w="38100">
            <a:solidFill>
              <a:srgbClr val="D6B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Sentence starter for listeners:  </a:t>
            </a:r>
            <a:r>
              <a:rPr sz="1400">
                <a:solidFill>
                  <a:srgbClr val="1C2230"/>
                </a:solidFill>
                <a:latin typeface="Calibri"/>
              </a:rPr>
              <a:t>"The strongest evidence I heard was ______. The assumption I would test next is ______ because ______."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E9EDF3"/>
          </a:solidFill>
          <a:ln w="9525">
            <a:solidFill>
              <a:srgbClr val="D8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14213D"/>
                </a:solidFill>
                <a:latin typeface="Calibri"/>
              </a:rPr>
              <a:t>Thank you.</a:t>
            </a:r>
            <a:r>
              <a:rPr sz="1100" b="0">
                <a:solidFill>
                  <a:srgbClr val="1C2230"/>
                </a:solidFill>
                <a:latin typeface="Calibri"/>
              </a:rPr>
              <a:t>   ·   Smart Split — use, test, learn, iterate.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Appendix · Peer feedback capture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320040"/>
            <a:ext cx="2743200" cy="4572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Listening team fills this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065253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19323"/>
                <a:gridCol w="2819323"/>
                <a:gridCol w="2819326"/>
              </a:tblGrid>
              <a:tr h="8412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Feedback lens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 evidence observed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 / concern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Suggested next experiment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Market 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Product hypothesis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Customer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Meaning / 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2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FF2CC"/>
          </a:solidFill>
          <a:ln w="31750">
            <a:solidFill>
              <a:srgbClr val="D6B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300" b="1">
                <a:solidFill>
                  <a:srgbClr val="14213D"/>
                </a:solidFill>
                <a:latin typeface="Calibri"/>
              </a:rPr>
              <a:t>Feedback sentence starter:  </a:t>
            </a:r>
            <a:r>
              <a:rPr sz="1300">
                <a:solidFill>
                  <a:srgbClr val="1C2230"/>
                </a:solidFill>
                <a:latin typeface="Calibri"/>
              </a:rPr>
              <a:t>"The strongest evidence I heard was ______. The assumption I would test next is ______ because ______."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A6680"/>
                </a:solidFill>
                <a:latin typeface="Calibri"/>
              </a:rPr>
              <a:t>Smart Split · BEX5413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5A6680"/>
                </a:solidFill>
                <a:latin typeface="Calibri"/>
              </a:rPr>
              <a:t>Use · test · learn · iterate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